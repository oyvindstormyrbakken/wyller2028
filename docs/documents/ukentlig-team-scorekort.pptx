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548640"/>
            <a:ext cx="10972800" cy="110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4200">
                <a:solidFill>
                  <a:srgbClr val="FFFFFF"/>
                </a:solidFill>
              </a:rPr>
              <a:t>Ukentlig team-scorekort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767840"/>
            <a:ext cx="10972800" cy="62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200">
                <a:solidFill>
                  <a:srgbClr val="12355B"/>
                </a:solidFill>
              </a:rPr>
              <a:t>World Cup Alpint Wyllerløypa 2028</a:t>
            </a:r>
            <a:br/>
            <a:r>
              <a:rPr lang="nb-NO" sz="2200">
                <a:solidFill>
                  <a:srgbClr val="12355B"/>
                </a:solidFill>
              </a:rPr>
              <a:t>Arrangement: 3. og 4. mars 2028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609600" y="2758440"/>
            <a:ext cx="515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900">
                <a:solidFill>
                  <a:srgbClr val="1F2937"/>
                </a:solidFill>
              </a:rPr>
              <a:t>Formål</a:t>
            </a:r>
            <a:br/>
            <a:r>
              <a:rPr lang="nb-NO" sz="1900">
                <a:solidFill>
                  <a:srgbClr val="1F2937"/>
                </a:solidFill>
              </a:rPr>
              <a:t>Felles ukentlig statusrapportering for alle team basert på PRINCE2-toleranser: tid, kostnad, omfang, kvalitet, risiko, forventet gevinst og bærekraft.</a:t>
            </a:r>
          </a:p>
        </p:txBody>
      </p:sp>
      <p:sp>
        <p:nvSpPr>
          <p:cNvPr id="5" name="Instructions"/>
          <p:cNvSpPr txBox="1"/>
          <p:nvPr/>
        </p:nvSpPr>
        <p:spPr>
          <a:xfrm>
            <a:off x="6210000" y="2758440"/>
            <a:ext cx="536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900">
                <a:solidFill>
                  <a:srgbClr val="1F2937"/>
                </a:solidFill>
              </a:rPr>
              <a:t>Bruk</a:t>
            </a:r>
            <a:br/>
            <a:r>
              <a:rPr lang="nb-NO" sz="1900">
                <a:solidFill>
                  <a:srgbClr val="1F2937"/>
                </a:solidFill>
              </a:rPr>
              <a:t>Fyll inn uke, rapportdato, statusfarge, kort kommentar, neste tiltak og saker meldt i prosjektloggen. Rød status eller toleransebrudd eskaleres til prosjektleder/prosjektstyre.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09600" y="6200000"/>
            <a:ext cx="10972800" cy="26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5B677A"/>
                </a:solidFill>
              </a:rPr>
              <a:t>Statusnivå: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77600" cy="6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3000">
                <a:solidFill>
                  <a:srgbClr val="FFFFFF"/>
                </a:solidFill>
              </a:rPr>
              <a:t>Rapporteringsveiledning</a:t>
            </a:r>
          </a:p>
        </p:txBody>
      </p:sp>
      <p:sp>
        <p:nvSpPr>
          <p:cNvPr id="3" name="Header 0"/>
          <p:cNvSpPr txBox="1"/>
          <p:nvPr/>
        </p:nvSpPr>
        <p:spPr>
          <a:xfrm>
            <a:off x="457200" y="1050000"/>
            <a:ext cx="2300000" cy="39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500">
                <a:solidFill>
                  <a:srgbClr val="12355B"/>
                </a:solidFill>
              </a:rPr>
              <a:t>Dimensjon</a:t>
            </a:r>
          </a:p>
        </p:txBody>
      </p:sp>
      <p:sp>
        <p:nvSpPr>
          <p:cNvPr id="4" name="Header 1"/>
          <p:cNvSpPr txBox="1"/>
          <p:nvPr/>
        </p:nvSpPr>
        <p:spPr>
          <a:xfrm>
            <a:off x="2950000" y="1050000"/>
            <a:ext cx="4700000" cy="39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500">
                <a:solidFill>
                  <a:srgbClr val="12355B"/>
                </a:solidFill>
              </a:rPr>
              <a:t>Hva teamet rapporterer</a:t>
            </a:r>
          </a:p>
        </p:txBody>
      </p:sp>
      <p:sp>
        <p:nvSpPr>
          <p:cNvPr id="5" name="Header 2"/>
          <p:cNvSpPr txBox="1"/>
          <p:nvPr/>
        </p:nvSpPr>
        <p:spPr>
          <a:xfrm>
            <a:off x="7950000" y="1050000"/>
            <a:ext cx="3500000" cy="39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500">
                <a:solidFill>
                  <a:srgbClr val="12355B"/>
                </a:solidFill>
              </a:rPr>
              <a:t>Typisk eskalering</a:t>
            </a:r>
          </a:p>
        </p:txBody>
      </p:sp>
      <p:sp>
        <p:nvSpPr>
          <p:cNvPr id="6" name="Cell 6"/>
          <p:cNvSpPr txBox="1"/>
          <p:nvPr/>
        </p:nvSpPr>
        <p:spPr>
          <a:xfrm>
            <a:off x="457200" y="1440000"/>
            <a:ext cx="23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Tid</a:t>
            </a:r>
          </a:p>
        </p:txBody>
      </p:sp>
      <p:sp>
        <p:nvSpPr>
          <p:cNvPr id="7" name="Cell 7"/>
          <p:cNvSpPr txBox="1"/>
          <p:nvPr/>
        </p:nvSpPr>
        <p:spPr>
          <a:xfrm>
            <a:off x="2950000" y="1440000"/>
            <a:ext cx="47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Milepæler, frister, forsinkelser og kritisk vei</a:t>
            </a:r>
          </a:p>
        </p:txBody>
      </p:sp>
      <p:sp>
        <p:nvSpPr>
          <p:cNvPr id="8" name="Cell 8"/>
          <p:cNvSpPr txBox="1"/>
          <p:nvPr/>
        </p:nvSpPr>
        <p:spPr>
          <a:xfrm>
            <a:off x="7950000" y="1440000"/>
            <a:ext cx="35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Kritisk milepæl &gt;14 dager forsinket</a:t>
            </a:r>
          </a:p>
        </p:txBody>
      </p:sp>
      <p:sp>
        <p:nvSpPr>
          <p:cNvPr id="9" name="Cell 9"/>
          <p:cNvSpPr txBox="1"/>
          <p:nvPr/>
        </p:nvSpPr>
        <p:spPr>
          <a:xfrm>
            <a:off x="457200" y="1960000"/>
            <a:ext cx="23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Kostnad</a:t>
            </a:r>
          </a:p>
        </p:txBody>
      </p:sp>
      <p:sp>
        <p:nvSpPr>
          <p:cNvPr id="10" name="Cell 10"/>
          <p:cNvSpPr txBox="1"/>
          <p:nvPr/>
        </p:nvSpPr>
        <p:spPr>
          <a:xfrm>
            <a:off x="2950000" y="1960000"/>
            <a:ext cx="47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Forbruk, prognose, avvik og nye kostnadsdrivere</a:t>
            </a:r>
          </a:p>
        </p:txBody>
      </p:sp>
      <p:sp>
        <p:nvSpPr>
          <p:cNvPr id="11" name="Cell 11"/>
          <p:cNvSpPr txBox="1"/>
          <p:nvPr/>
        </p:nvSpPr>
        <p:spPr>
          <a:xfrm>
            <a:off x="7950000" y="1960000"/>
            <a:ext cx="35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Prognose &gt;5-10 % over budsjett</a:t>
            </a:r>
          </a:p>
        </p:txBody>
      </p:sp>
      <p:sp>
        <p:nvSpPr>
          <p:cNvPr id="12" name="Cell 12"/>
          <p:cNvSpPr txBox="1"/>
          <p:nvPr/>
        </p:nvSpPr>
        <p:spPr>
          <a:xfrm>
            <a:off x="457200" y="2480000"/>
            <a:ext cx="23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Omfang</a:t>
            </a:r>
          </a:p>
        </p:txBody>
      </p:sp>
      <p:sp>
        <p:nvSpPr>
          <p:cNvPr id="13" name="Cell 13"/>
          <p:cNvSpPr txBox="1"/>
          <p:nvPr/>
        </p:nvSpPr>
        <p:spPr>
          <a:xfrm>
            <a:off x="2950000" y="2480000"/>
            <a:ext cx="47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Leveranser, scope-endringer og avgrensninger</a:t>
            </a:r>
          </a:p>
        </p:txBody>
      </p:sp>
      <p:sp>
        <p:nvSpPr>
          <p:cNvPr id="14" name="Cell 14"/>
          <p:cNvSpPr txBox="1"/>
          <p:nvPr/>
        </p:nvSpPr>
        <p:spPr>
          <a:xfrm>
            <a:off x="7950000" y="2480000"/>
            <a:ext cx="35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Endring i konkurranse, arena eller avtalt leveranse</a:t>
            </a:r>
          </a:p>
        </p:txBody>
      </p:sp>
      <p:sp>
        <p:nvSpPr>
          <p:cNvPr id="15" name="Cell 15"/>
          <p:cNvSpPr txBox="1"/>
          <p:nvPr/>
        </p:nvSpPr>
        <p:spPr>
          <a:xfrm>
            <a:off x="457200" y="3000000"/>
            <a:ext cx="23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Kvalitet</a:t>
            </a:r>
          </a:p>
        </p:txBody>
      </p:sp>
      <p:sp>
        <p:nvSpPr>
          <p:cNvPr id="16" name="Cell 16"/>
          <p:cNvSpPr txBox="1"/>
          <p:nvPr/>
        </p:nvSpPr>
        <p:spPr>
          <a:xfrm>
            <a:off x="2950000" y="3000000"/>
            <a:ext cx="47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Godkjenninger, tester, avvik og akseptkriterier</a:t>
            </a:r>
          </a:p>
        </p:txBody>
      </p:sp>
      <p:sp>
        <p:nvSpPr>
          <p:cNvPr id="17" name="Cell 17"/>
          <p:cNvSpPr txBox="1"/>
          <p:nvPr/>
        </p:nvSpPr>
        <p:spPr>
          <a:xfrm>
            <a:off x="7950000" y="3000000"/>
            <a:ext cx="35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FIS-/HMS-/TV-kritisk kvalitetsavvik</a:t>
            </a:r>
          </a:p>
        </p:txBody>
      </p:sp>
      <p:sp>
        <p:nvSpPr>
          <p:cNvPr id="18" name="Cell 18"/>
          <p:cNvSpPr txBox="1"/>
          <p:nvPr/>
        </p:nvSpPr>
        <p:spPr>
          <a:xfrm>
            <a:off x="457200" y="3520000"/>
            <a:ext cx="23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Risiko</a:t>
            </a:r>
          </a:p>
        </p:txBody>
      </p:sp>
      <p:sp>
        <p:nvSpPr>
          <p:cNvPr id="19" name="Cell 19"/>
          <p:cNvSpPr txBox="1"/>
          <p:nvPr/>
        </p:nvSpPr>
        <p:spPr>
          <a:xfrm>
            <a:off x="2950000" y="3520000"/>
            <a:ext cx="47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Nye/røde risikoer, tiltak, eier og rest-risiko</a:t>
            </a:r>
          </a:p>
        </p:txBody>
      </p:sp>
      <p:sp>
        <p:nvSpPr>
          <p:cNvPr id="20" name="Cell 20"/>
          <p:cNvSpPr txBox="1"/>
          <p:nvPr/>
        </p:nvSpPr>
        <p:spPr>
          <a:xfrm>
            <a:off x="7950000" y="3520000"/>
            <a:ext cx="35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Rød risiko uten tiltaksplan</a:t>
            </a:r>
          </a:p>
        </p:txBody>
      </p:sp>
      <p:sp>
        <p:nvSpPr>
          <p:cNvPr id="21" name="Cell 21"/>
          <p:cNvSpPr txBox="1"/>
          <p:nvPr/>
        </p:nvSpPr>
        <p:spPr>
          <a:xfrm>
            <a:off x="457200" y="4040000"/>
            <a:ext cx="23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Forventet gevinst</a:t>
            </a:r>
          </a:p>
        </p:txBody>
      </p:sp>
      <p:sp>
        <p:nvSpPr>
          <p:cNvPr id="22" name="Cell 22"/>
          <p:cNvSpPr txBox="1"/>
          <p:nvPr/>
        </p:nvSpPr>
        <p:spPr>
          <a:xfrm>
            <a:off x="2950000" y="4040000"/>
            <a:ext cx="47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Bidrag til publikum, sport, media, sponsor, lokal verdi</a:t>
            </a:r>
          </a:p>
        </p:txBody>
      </p:sp>
      <p:sp>
        <p:nvSpPr>
          <p:cNvPr id="23" name="Cell 23"/>
          <p:cNvSpPr txBox="1"/>
          <p:nvPr/>
        </p:nvSpPr>
        <p:spPr>
          <a:xfrm>
            <a:off x="7950000" y="4040000"/>
            <a:ext cx="35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Prognose &lt;80 % av gevinstmål</a:t>
            </a:r>
          </a:p>
        </p:txBody>
      </p:sp>
      <p:sp>
        <p:nvSpPr>
          <p:cNvPr id="24" name="Cell 24"/>
          <p:cNvSpPr txBox="1"/>
          <p:nvPr/>
        </p:nvSpPr>
        <p:spPr>
          <a:xfrm>
            <a:off x="457200" y="4560000"/>
            <a:ext cx="23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Bærekraft</a:t>
            </a:r>
          </a:p>
        </p:txBody>
      </p:sp>
      <p:sp>
        <p:nvSpPr>
          <p:cNvPr id="25" name="Cell 25"/>
          <p:cNvSpPr txBox="1"/>
          <p:nvPr/>
        </p:nvSpPr>
        <p:spPr>
          <a:xfrm>
            <a:off x="2950000" y="4560000"/>
            <a:ext cx="47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Transport, avfall, energi, innkjøp og sosial verdi</a:t>
            </a:r>
          </a:p>
        </p:txBody>
      </p:sp>
      <p:sp>
        <p:nvSpPr>
          <p:cNvPr id="26" name="Cell 26"/>
          <p:cNvSpPr txBox="1"/>
          <p:nvPr/>
        </p:nvSpPr>
        <p:spPr>
          <a:xfrm>
            <a:off x="7950000" y="4560000"/>
            <a:ext cx="35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50">
                <a:solidFill>
                  <a:srgbClr val="1F2937"/>
                </a:solidFill>
              </a:rPr>
              <a:t>Vesentlig avvik fra bærekraftsplan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Prosjektledelse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Helhetlig styring, toleranser, rapportering og beslutningsgrunnlag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3 |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Sport og FIS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Rennprogram, løypekrav, FIS/TD, jury og sportslig gjennomføring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4 |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Arena og rigg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Snø, heis, rigg, strøm, målområde, publikumsområder og demontering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5 |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HMS og beredskap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Risikoanalyse, sanitet, vakthold, evakuering, værberedskap og stoppkriterier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6 |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Publikum og transport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Billetter, adgang, publikumsflyt, shuttle, skilting og service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7 |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Frivillige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Rekruttering, opplæring, akkreditering, vaktplan og frivilligpleie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8 |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Kommersielt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Sponsoravtaler, hospitality, partnerleveranser og salgsrapportering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9 |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Media og kommunikasjon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Presse, SoMe, publikumsinfo, krisekommunikasjon, TV og mixed zone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10 |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Bærekraft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Transport, avfall, energi, innkjøp, sosial verdi og miljørapportering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11 | Grønn = innenfor toleranse | Gul = tiltak nødvendig | Rød = eskalering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title"/>
          <p:cNvSpPr txBox="1"/>
          <p:nvPr/>
        </p:nvSpPr>
        <p:spPr>
          <a:xfrm>
            <a:off x="381000" y="228600"/>
            <a:ext cx="11430000" cy="520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2600">
                <a:solidFill>
                  <a:srgbClr val="FFFFFF"/>
                </a:solidFill>
              </a:rPr>
              <a:t>Ukentlig scorekort: Økonomi og administrasjon</a:t>
            </a:r>
          </a:p>
        </p:txBody>
      </p:sp>
      <p:sp>
        <p:nvSpPr>
          <p:cNvPr id="3" name="Meta"/>
          <p:cNvSpPr txBox="1"/>
          <p:nvPr/>
        </p:nvSpPr>
        <p:spPr>
          <a:xfrm>
            <a:off x="381000" y="830000"/>
            <a:ext cx="11430000" cy="4300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350">
                <a:solidFill>
                  <a:srgbClr val="12355B"/>
                </a:solidFill>
              </a:rPr>
              <a:t>Uke: ____   Rapportdato: ____   Rapportert av: ____   Teamansvarlig: ____</a:t>
            </a:r>
            <a:br/>
            <a:r>
              <a:rPr lang="nb-NO" sz="1350">
                <a:solidFill>
                  <a:srgbClr val="12355B"/>
                </a:solidFill>
              </a:rPr>
              <a:t>Teamets scope: Budsjett, prognose, kontrakter, innkjøp, regnskap og dokumentkontroll</a:t>
            </a:r>
          </a:p>
        </p:txBody>
      </p:sp>
      <p:sp>
        <p:nvSpPr>
          <p:cNvPr id="4" name="Header 0"/>
          <p:cNvSpPr txBox="1"/>
          <p:nvPr/>
        </p:nvSpPr>
        <p:spPr>
          <a:xfrm>
            <a:off x="381000" y="1420000"/>
            <a:ext cx="13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Dimensjon / status</a:t>
            </a:r>
          </a:p>
        </p:txBody>
      </p:sp>
      <p:sp>
        <p:nvSpPr>
          <p:cNvPr id="5" name="Header 1"/>
          <p:cNvSpPr txBox="1"/>
          <p:nvPr/>
        </p:nvSpPr>
        <p:spPr>
          <a:xfrm>
            <a:off x="1761000" y="1420000"/>
            <a:ext cx="330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Kort vurdering</a:t>
            </a:r>
          </a:p>
        </p:txBody>
      </p:sp>
      <p:sp>
        <p:nvSpPr>
          <p:cNvPr id="6" name="Header 2"/>
          <p:cNvSpPr txBox="1"/>
          <p:nvPr/>
        </p:nvSpPr>
        <p:spPr>
          <a:xfrm>
            <a:off x="5061000" y="1420000"/>
            <a:ext cx="286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Tiltak neste uke</a:t>
            </a:r>
          </a:p>
        </p:txBody>
      </p:sp>
      <p:sp>
        <p:nvSpPr>
          <p:cNvPr id="7" name="Header 3"/>
          <p:cNvSpPr txBox="1"/>
          <p:nvPr/>
        </p:nvSpPr>
        <p:spPr>
          <a:xfrm>
            <a:off x="7921000" y="1420000"/>
            <a:ext cx="158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Eier</a:t>
            </a:r>
          </a:p>
        </p:txBody>
      </p:sp>
      <p:sp>
        <p:nvSpPr>
          <p:cNvPr id="8" name="Header 4"/>
          <p:cNvSpPr txBox="1"/>
          <p:nvPr/>
        </p:nvSpPr>
        <p:spPr>
          <a:xfrm>
            <a:off x="9501000" y="1420000"/>
            <a:ext cx="1220000" cy="34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BBD7F0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150">
                <a:solidFill>
                  <a:srgbClr val="12355B"/>
                </a:solidFill>
              </a:rPr>
              <a:t>Frist</a:t>
            </a:r>
          </a:p>
        </p:txBody>
      </p:sp>
      <p:sp>
        <p:nvSpPr>
          <p:cNvPr id="9" name="Tid status"/>
          <p:cNvSpPr txBox="1"/>
          <p:nvPr/>
        </p:nvSpPr>
        <p:spPr>
          <a:xfrm>
            <a:off x="381000" y="17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Tid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0" name="Tid comment"/>
          <p:cNvSpPr txBox="1"/>
          <p:nvPr/>
        </p:nvSpPr>
        <p:spPr>
          <a:xfrm>
            <a:off x="1761000" y="17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1" name="Tid action"/>
          <p:cNvSpPr txBox="1"/>
          <p:nvPr/>
        </p:nvSpPr>
        <p:spPr>
          <a:xfrm>
            <a:off x="5061000" y="17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2" name="Tid owner"/>
          <p:cNvSpPr txBox="1"/>
          <p:nvPr/>
        </p:nvSpPr>
        <p:spPr>
          <a:xfrm>
            <a:off x="7921000" y="17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3" name="Tid due"/>
          <p:cNvSpPr txBox="1"/>
          <p:nvPr/>
        </p:nvSpPr>
        <p:spPr>
          <a:xfrm>
            <a:off x="9501000" y="17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4" name="Kostnad status"/>
          <p:cNvSpPr txBox="1"/>
          <p:nvPr/>
        </p:nvSpPr>
        <p:spPr>
          <a:xfrm>
            <a:off x="381000" y="21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Kostnad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15" name="Kostnad comment"/>
          <p:cNvSpPr txBox="1"/>
          <p:nvPr/>
        </p:nvSpPr>
        <p:spPr>
          <a:xfrm>
            <a:off x="1761000" y="21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16" name="Kostnad action"/>
          <p:cNvSpPr txBox="1"/>
          <p:nvPr/>
        </p:nvSpPr>
        <p:spPr>
          <a:xfrm>
            <a:off x="5061000" y="21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17" name="Kostnad owner"/>
          <p:cNvSpPr txBox="1"/>
          <p:nvPr/>
        </p:nvSpPr>
        <p:spPr>
          <a:xfrm>
            <a:off x="7921000" y="21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8" name="Kostnad due"/>
          <p:cNvSpPr txBox="1"/>
          <p:nvPr/>
        </p:nvSpPr>
        <p:spPr>
          <a:xfrm>
            <a:off x="9501000" y="21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19" name="Omfang status"/>
          <p:cNvSpPr txBox="1"/>
          <p:nvPr/>
        </p:nvSpPr>
        <p:spPr>
          <a:xfrm>
            <a:off x="381000" y="260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Omfang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0" name="Omfang comment"/>
          <p:cNvSpPr txBox="1"/>
          <p:nvPr/>
        </p:nvSpPr>
        <p:spPr>
          <a:xfrm>
            <a:off x="1761000" y="260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1" name="Omfang action"/>
          <p:cNvSpPr txBox="1"/>
          <p:nvPr/>
        </p:nvSpPr>
        <p:spPr>
          <a:xfrm>
            <a:off x="5061000" y="260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2" name="Omfang owner"/>
          <p:cNvSpPr txBox="1"/>
          <p:nvPr/>
        </p:nvSpPr>
        <p:spPr>
          <a:xfrm>
            <a:off x="7921000" y="260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3" name="Omfang due"/>
          <p:cNvSpPr txBox="1"/>
          <p:nvPr/>
        </p:nvSpPr>
        <p:spPr>
          <a:xfrm>
            <a:off x="9501000" y="260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4" name="Kvalitet status"/>
          <p:cNvSpPr txBox="1"/>
          <p:nvPr/>
        </p:nvSpPr>
        <p:spPr>
          <a:xfrm>
            <a:off x="381000" y="302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Kvalitet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25" name="Kvalitet comment"/>
          <p:cNvSpPr txBox="1"/>
          <p:nvPr/>
        </p:nvSpPr>
        <p:spPr>
          <a:xfrm>
            <a:off x="1761000" y="302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26" name="Kvalitet action"/>
          <p:cNvSpPr txBox="1"/>
          <p:nvPr/>
        </p:nvSpPr>
        <p:spPr>
          <a:xfrm>
            <a:off x="5061000" y="302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27" name="Kvalitet owner"/>
          <p:cNvSpPr txBox="1"/>
          <p:nvPr/>
        </p:nvSpPr>
        <p:spPr>
          <a:xfrm>
            <a:off x="7921000" y="302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8" name="Kvalitet due"/>
          <p:cNvSpPr txBox="1"/>
          <p:nvPr/>
        </p:nvSpPr>
        <p:spPr>
          <a:xfrm>
            <a:off x="9501000" y="302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29" name="Risiko status"/>
          <p:cNvSpPr txBox="1"/>
          <p:nvPr/>
        </p:nvSpPr>
        <p:spPr>
          <a:xfrm>
            <a:off x="381000" y="344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Risiko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0" name="Risiko comment"/>
          <p:cNvSpPr txBox="1"/>
          <p:nvPr/>
        </p:nvSpPr>
        <p:spPr>
          <a:xfrm>
            <a:off x="1761000" y="344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1" name="Risiko action"/>
          <p:cNvSpPr txBox="1"/>
          <p:nvPr/>
        </p:nvSpPr>
        <p:spPr>
          <a:xfrm>
            <a:off x="5061000" y="344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2" name="Risiko owner"/>
          <p:cNvSpPr txBox="1"/>
          <p:nvPr/>
        </p:nvSpPr>
        <p:spPr>
          <a:xfrm>
            <a:off x="7921000" y="344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3" name="Risiko due"/>
          <p:cNvSpPr txBox="1"/>
          <p:nvPr/>
        </p:nvSpPr>
        <p:spPr>
          <a:xfrm>
            <a:off x="9501000" y="344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4" name="Forventet gevinst status"/>
          <p:cNvSpPr txBox="1"/>
          <p:nvPr/>
        </p:nvSpPr>
        <p:spPr>
          <a:xfrm>
            <a:off x="381000" y="386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Forventet gevinst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35" name="Forventet gevinst comment"/>
          <p:cNvSpPr txBox="1"/>
          <p:nvPr/>
        </p:nvSpPr>
        <p:spPr>
          <a:xfrm>
            <a:off x="1761000" y="386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36" name="Forventet gevinst action"/>
          <p:cNvSpPr txBox="1"/>
          <p:nvPr/>
        </p:nvSpPr>
        <p:spPr>
          <a:xfrm>
            <a:off x="5061000" y="386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37" name="Forventet gevinst owner"/>
          <p:cNvSpPr txBox="1"/>
          <p:nvPr/>
        </p:nvSpPr>
        <p:spPr>
          <a:xfrm>
            <a:off x="7921000" y="386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8" name="Forventet gevinst due"/>
          <p:cNvSpPr txBox="1"/>
          <p:nvPr/>
        </p:nvSpPr>
        <p:spPr>
          <a:xfrm>
            <a:off x="9501000" y="386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39" name="Bærekraft status"/>
          <p:cNvSpPr txBox="1"/>
          <p:nvPr/>
        </p:nvSpPr>
        <p:spPr>
          <a:xfrm>
            <a:off x="381000" y="4280000"/>
            <a:ext cx="13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1F2937"/>
                </a:solidFill>
              </a:rPr>
              <a:t>Bærekraft</a:t>
            </a:r>
            <a:br/>
            <a:r>
              <a:rPr lang="nb-NO" sz="1050">
                <a:solidFill>
                  <a:srgbClr val="1F2937"/>
                </a:solidFill>
              </a:rPr>
              <a:t>G / Y / R</a:t>
            </a:r>
          </a:p>
        </p:txBody>
      </p:sp>
      <p:sp>
        <p:nvSpPr>
          <p:cNvPr id="40" name="Bærekraft comment"/>
          <p:cNvSpPr txBox="1"/>
          <p:nvPr/>
        </p:nvSpPr>
        <p:spPr>
          <a:xfrm>
            <a:off x="1761000" y="4280000"/>
            <a:ext cx="330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Status og avvik:</a:t>
            </a:r>
          </a:p>
        </p:txBody>
      </p:sp>
      <p:sp>
        <p:nvSpPr>
          <p:cNvPr id="41" name="Bærekraft action"/>
          <p:cNvSpPr txBox="1"/>
          <p:nvPr/>
        </p:nvSpPr>
        <p:spPr>
          <a:xfrm>
            <a:off x="5061000" y="4280000"/>
            <a:ext cx="286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00">
                <a:solidFill>
                  <a:srgbClr val="1F2937"/>
                </a:solidFill>
              </a:rPr>
              <a:t>Neste tiltak:</a:t>
            </a:r>
          </a:p>
        </p:txBody>
      </p:sp>
      <p:sp>
        <p:nvSpPr>
          <p:cNvPr id="42" name="Bærekraft owner"/>
          <p:cNvSpPr txBox="1"/>
          <p:nvPr/>
        </p:nvSpPr>
        <p:spPr>
          <a:xfrm>
            <a:off x="7921000" y="4280000"/>
            <a:ext cx="158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3" name="Bærekraft due"/>
          <p:cNvSpPr txBox="1"/>
          <p:nvPr/>
        </p:nvSpPr>
        <p:spPr>
          <a:xfrm>
            <a:off x="9501000" y="4280000"/>
            <a:ext cx="122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endParaRPr/>
          </a:p>
        </p:txBody>
      </p:sp>
      <p:sp>
        <p:nvSpPr>
          <p:cNvPr id="44" name="Project log summary"/>
          <p:cNvSpPr txBox="1"/>
          <p:nvPr/>
        </p:nvSpPr>
        <p:spPr>
          <a:xfrm>
            <a:off x="381000" y="4980000"/>
            <a:ext cx="556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3535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Saker rapportert i Prosjektlogg-PRINCE2-World-Cup-Alpint-Wyllerloypa-2028</a:t>
            </a:r>
            <a:br/>
            <a:r>
              <a:rPr lang="nb-NO" sz="1200">
                <a:solidFill>
                  <a:srgbClr val="1F2937"/>
                </a:solidFill>
              </a:rPr>
              <a:t>ID-er / korte beskrivelser / eskalering:</a:t>
            </a:r>
          </a:p>
        </p:txBody>
      </p:sp>
      <p:sp>
        <p:nvSpPr>
          <p:cNvPr id="45" name="Management summary"/>
          <p:cNvSpPr txBox="1"/>
          <p:nvPr/>
        </p:nvSpPr>
        <p:spPr>
          <a:xfrm>
            <a:off x="6120000" y="4980000"/>
            <a:ext cx="57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200">
                <a:solidFill>
                  <a:srgbClr val="1F2937"/>
                </a:solidFill>
              </a:rPr>
              <a:t>Ukens lederoppsummering</a:t>
            </a:r>
            <a:br/>
            <a:r>
              <a:rPr lang="nb-NO" sz="1200">
                <a:solidFill>
                  <a:srgbClr val="1F2937"/>
                </a:solidFill>
              </a:rPr>
              <a:t>Hva trenger teamet beslutning på? Hva er viktigst neste uke?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381000" y="6200000"/>
            <a:ext cx="11430000" cy="2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91440" tIns="68580" rIns="91440" bIns="68580"/>
          <a:lstStyle/>
          <a:p>
            <a:pPr marL="0" marR="0"/>
            <a:r>
              <a:rPr lang="nb-NO" sz="1050">
                <a:solidFill>
                  <a:srgbClr val="5B677A"/>
                </a:solidFill>
              </a:rPr>
              <a:t>Slide 12 | Grønn = innenfor toleranse | Gul = tiltak nødvendig | Rød = eskalering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2053</Words>
  <Application>Microsoft Macintosh PowerPoint</Application>
  <PresentationFormat>Widescreen</PresentationFormat>
  <Paragraphs>340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3" baseType="lpstr"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Ukentlig team-scorekort World Cup Alpint Wyllerløypa 2028</dc:title>
  <dc:creator>Codex</dc:creator>
  <cp:lastModifiedBy>Øyvind Stormyrbakken</cp:lastModifiedBy>
  <cp:revision>1</cp:revision>
  <dcterms:created xsi:type="dcterms:W3CDTF">2026-06-18T08:19:46Z</dcterms:created>
  <dcterms:modified xsi:type="dcterms:W3CDTF">2026-06-18T08:22:51Z</dcterms:modified>
</cp:coreProperties>
</file>